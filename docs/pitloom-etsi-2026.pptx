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hyperlink" Target="https://github.com/bact/pitloom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hyperlink" Target="https://github.com/bact/pitlo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Table 1"/>
          <p:cNvGraphicFramePr/>
          <p:nvPr/>
        </p:nvGraphicFramePr>
        <p:xfrm>
          <a:off x="13635924" y="4768533"/>
          <a:ext cx="10985501" cy="825601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6229974"/>
                <a:gridCol w="3568961"/>
              </a:tblGrid>
              <a:tr h="103041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800"/>
                        <a:t>SPDX 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b="1" sz="2800"/>
                        <a:t>G7 SBOM for AI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030413">
                <a:tc>
                  <a:txBody>
                    <a:bodyPr/>
                    <a:lstStyle/>
                    <a:p>
                      <a:pPr defTabSz="914400"/>
                      <a:r>
                        <a:rPr b="1" sz="2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Package.name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800"/>
                        <a:t>System name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030413">
                <a:tc>
                  <a:txBody>
                    <a:bodyPr/>
                    <a:lstStyle/>
                    <a:p>
                      <a:pPr defTabSz="914400"/>
                      <a:r>
                        <a:rPr b="1" sz="2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Package.version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800"/>
                        <a:t>System version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030413">
                <a:tc>
                  <a:txBody>
                    <a:bodyPr/>
                    <a:lstStyle/>
                    <a:p>
                      <a:pPr defTabSz="914400"/>
                      <a:r>
                        <a:rPr b="1" sz="2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Package.intendedUse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800"/>
                        <a:t>Intended application area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030413">
                <a:tc>
                  <a:txBody>
                    <a:bodyPr/>
                    <a:lstStyle/>
                    <a:p>
                      <a:pPr defTabSz="914400">
                        <a:defRPr sz="2800"/>
                      </a:pPr>
                      <a:r>
                        <a:rPr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AIPackage.externalIdentifier</a:t>
                      </a:r>
                      <a:r>
                        <a:t> (</a:t>
                      </a:r>
                      <a:r>
                        <a:rPr i="1"/>
                        <a:t>cpe23</a:t>
                      </a:r>
                      <a:r>
                        <a:t>, </a:t>
                      </a:r>
                      <a:r>
                        <a:rPr i="1"/>
                        <a:t>packageURL</a:t>
                      </a:r>
                      <a:r>
                        <a:t>, </a:t>
                      </a:r>
                      <a:r>
                        <a:rPr i="1"/>
                        <a:t>swhid</a:t>
                      </a:r>
                      <a:r>
                        <a:t> types)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800"/>
                        <a:t>Model identifier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030413">
                <a:tc>
                  <a:txBody>
                    <a:bodyPr/>
                    <a:lstStyle/>
                    <a:p>
                      <a:pPr defTabSz="914400"/>
                      <a:r>
                        <a:rPr b="1" sz="2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AIPackage.creationInfo .createdBy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800"/>
                        <a:t>Model producer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030413">
                <a:tc>
                  <a:txBody>
                    <a:bodyPr/>
                    <a:lstStyle/>
                    <a:p>
                      <a:pPr defTabSz="914400">
                        <a:defRPr sz="2800"/>
                      </a:pPr>
                      <a:r>
                        <a:rPr i="1"/>
                        <a:t>hasDeclaredLicense</a:t>
                      </a:r>
                      <a:r>
                        <a:t> and </a:t>
                      </a:r>
                      <a:r>
                        <a:rPr i="1"/>
                        <a:t>hasConcludedLicense</a:t>
                      </a:r>
                      <a:r>
                        <a:t> relationships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800"/>
                        <a:t>Model license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030413">
                <a:tc>
                  <a:txBody>
                    <a:bodyPr/>
                    <a:lstStyle/>
                    <a:p>
                      <a:pPr defTabSz="914400">
                        <a:defRPr sz="2800"/>
                      </a:pPr>
                      <a:r>
                        <a:rPr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DatasetPackage.datasetType</a:t>
                      </a:r>
                      <a:br/>
                      <a:r>
                        <a:rPr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File.contentType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800"/>
                        <a:t>Dataset content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  <p:sp>
        <p:nvSpPr>
          <p:cNvPr id="172" name="SBOM generator"/>
          <p:cNvSpPr/>
          <p:nvPr/>
        </p:nvSpPr>
        <p:spPr>
          <a:xfrm>
            <a:off x="8064811" y="2821800"/>
            <a:ext cx="2773795" cy="1987848"/>
          </a:xfrm>
          <a:prstGeom prst="rect">
            <a:avLst/>
          </a:prstGeom>
          <a:solidFill>
            <a:schemeClr val="accent6">
              <a:satOff val="-20754"/>
              <a:lumOff val="-1673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SBOM generator</a:t>
            </a:r>
          </a:p>
        </p:txBody>
      </p:sp>
      <p:sp>
        <p:nvSpPr>
          <p:cNvPr id="173" name="AI models"/>
          <p:cNvSpPr/>
          <p:nvPr/>
        </p:nvSpPr>
        <p:spPr>
          <a:xfrm>
            <a:off x="421103" y="8128271"/>
            <a:ext cx="2297920" cy="1270001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AI models</a:t>
            </a:r>
          </a:p>
        </p:txBody>
      </p:sp>
      <p:sp>
        <p:nvSpPr>
          <p:cNvPr id="174" name="Project description"/>
          <p:cNvSpPr/>
          <p:nvPr/>
        </p:nvSpPr>
        <p:spPr>
          <a:xfrm>
            <a:off x="396033" y="6446615"/>
            <a:ext cx="2773795" cy="1270001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Project description</a:t>
            </a:r>
          </a:p>
        </p:txBody>
      </p:sp>
      <p:sp>
        <p:nvSpPr>
          <p:cNvPr id="175" name="Dataset"/>
          <p:cNvSpPr/>
          <p:nvPr/>
        </p:nvSpPr>
        <p:spPr>
          <a:xfrm>
            <a:off x="2801439" y="7851543"/>
            <a:ext cx="1845409" cy="1270001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Dataset</a:t>
            </a:r>
          </a:p>
        </p:txBody>
      </p:sp>
      <p:sp>
        <p:nvSpPr>
          <p:cNvPr id="176" name="Rectangle"/>
          <p:cNvSpPr/>
          <p:nvPr/>
        </p:nvSpPr>
        <p:spPr>
          <a:xfrm>
            <a:off x="204452" y="6255035"/>
            <a:ext cx="4532698" cy="3346362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cxnSp>
        <p:nvCxnSpPr>
          <p:cNvPr id="177" name="Connection Line"/>
          <p:cNvCxnSpPr>
            <a:stCxn id="176" idx="0"/>
            <a:endCxn id="172" idx="0"/>
          </p:cNvCxnSpPr>
          <p:nvPr/>
        </p:nvCxnSpPr>
        <p:spPr>
          <a:xfrm flipV="1">
            <a:off x="2470801" y="3815723"/>
            <a:ext cx="6980908" cy="4112493"/>
          </a:xfrm>
          <a:prstGeom prst="straightConnector1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</p:cxnSp>
      <p:sp>
        <p:nvSpPr>
          <p:cNvPr id="178" name="Metadata extraction"/>
          <p:cNvSpPr txBox="1"/>
          <p:nvPr/>
        </p:nvSpPr>
        <p:spPr>
          <a:xfrm>
            <a:off x="3545133" y="6099674"/>
            <a:ext cx="2021253" cy="1024180"/>
          </a:xfrm>
          <a:prstGeom prst="rect">
            <a:avLst/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3000"/>
            </a:pPr>
            <a:r>
              <a:t>Metadata</a:t>
            </a:r>
            <a:br/>
            <a:r>
              <a:t>extraction</a:t>
            </a:r>
          </a:p>
        </p:txBody>
      </p:sp>
      <p:sp>
        <p:nvSpPr>
          <p:cNvPr id="179" name="Model repository"/>
          <p:cNvSpPr/>
          <p:nvPr/>
        </p:nvSpPr>
        <p:spPr>
          <a:xfrm>
            <a:off x="1988678" y="11652568"/>
            <a:ext cx="2773795" cy="1270001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Model repository</a:t>
            </a:r>
          </a:p>
        </p:txBody>
      </p:sp>
      <p:sp>
        <p:nvSpPr>
          <p:cNvPr id="180" name="Software repository"/>
          <p:cNvSpPr/>
          <p:nvPr/>
        </p:nvSpPr>
        <p:spPr>
          <a:xfrm>
            <a:off x="1426995" y="10225634"/>
            <a:ext cx="2773795" cy="1270001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Software repository</a:t>
            </a:r>
          </a:p>
        </p:txBody>
      </p:sp>
      <p:sp>
        <p:nvSpPr>
          <p:cNvPr id="181" name="Rectangle"/>
          <p:cNvSpPr/>
          <p:nvPr/>
        </p:nvSpPr>
        <p:spPr>
          <a:xfrm>
            <a:off x="1243640" y="10060716"/>
            <a:ext cx="3658610" cy="3022765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cxnSp>
        <p:nvCxnSpPr>
          <p:cNvPr id="182" name="Connection Line"/>
          <p:cNvCxnSpPr>
            <a:stCxn id="183" idx="0"/>
            <a:endCxn id="172" idx="0"/>
          </p:cNvCxnSpPr>
          <p:nvPr/>
        </p:nvCxnSpPr>
        <p:spPr>
          <a:xfrm flipV="1">
            <a:off x="4904774" y="3815723"/>
            <a:ext cx="4546935" cy="6338593"/>
          </a:xfrm>
          <a:prstGeom prst="straightConnector1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</p:cxnSp>
      <p:sp>
        <p:nvSpPr>
          <p:cNvPr id="183" name="API"/>
          <p:cNvSpPr txBox="1"/>
          <p:nvPr/>
        </p:nvSpPr>
        <p:spPr>
          <a:xfrm>
            <a:off x="4332024" y="9848499"/>
            <a:ext cx="1145501" cy="611633"/>
          </a:xfrm>
          <a:prstGeom prst="rect">
            <a:avLst/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000"/>
            </a:lvl1pPr>
          </a:lstStyle>
          <a:p>
            <a:pPr/>
            <a:r>
              <a:t>API</a:t>
            </a:r>
          </a:p>
        </p:txBody>
      </p:sp>
      <p:sp>
        <p:nvSpPr>
          <p:cNvPr id="184" name="Source code"/>
          <p:cNvSpPr/>
          <p:nvPr/>
        </p:nvSpPr>
        <p:spPr>
          <a:xfrm>
            <a:off x="891225" y="3104436"/>
            <a:ext cx="2773795" cy="1270001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Source code</a:t>
            </a:r>
          </a:p>
        </p:txBody>
      </p:sp>
      <p:sp>
        <p:nvSpPr>
          <p:cNvPr id="185" name="Software artefacts"/>
          <p:cNvSpPr/>
          <p:nvPr/>
        </p:nvSpPr>
        <p:spPr>
          <a:xfrm>
            <a:off x="1256635" y="4485226"/>
            <a:ext cx="2773795" cy="1270001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Software artefacts</a:t>
            </a:r>
          </a:p>
        </p:txBody>
      </p:sp>
      <p:sp>
        <p:nvSpPr>
          <p:cNvPr id="186" name="Rectangle"/>
          <p:cNvSpPr/>
          <p:nvPr/>
        </p:nvSpPr>
        <p:spPr>
          <a:xfrm>
            <a:off x="661325" y="2891650"/>
            <a:ext cx="3529725" cy="2989573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cxnSp>
        <p:nvCxnSpPr>
          <p:cNvPr id="187" name="Connection Line"/>
          <p:cNvCxnSpPr>
            <a:stCxn id="186" idx="0"/>
            <a:endCxn id="172" idx="0"/>
          </p:cNvCxnSpPr>
          <p:nvPr/>
        </p:nvCxnSpPr>
        <p:spPr>
          <a:xfrm flipV="1">
            <a:off x="2426187" y="3815723"/>
            <a:ext cx="7025522" cy="570714"/>
          </a:xfrm>
          <a:prstGeom prst="straightConnector1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</p:cxnSp>
      <p:sp>
        <p:nvSpPr>
          <p:cNvPr id="188" name="SPDX tag/text extraction"/>
          <p:cNvSpPr txBox="1"/>
          <p:nvPr/>
        </p:nvSpPr>
        <p:spPr>
          <a:xfrm>
            <a:off x="3873036" y="3229712"/>
            <a:ext cx="2631406" cy="1024180"/>
          </a:xfrm>
          <a:prstGeom prst="rect">
            <a:avLst/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000"/>
            </a:lvl1pPr>
          </a:lstStyle>
          <a:p>
            <a:pPr/>
            <a:r>
              <a:t>SPDX tag/text extraction</a:t>
            </a:r>
          </a:p>
        </p:txBody>
      </p:sp>
      <p:sp>
        <p:nvSpPr>
          <p:cNvPr id="189" name="SPDX 3 JSON"/>
          <p:cNvSpPr/>
          <p:nvPr/>
        </p:nvSpPr>
        <p:spPr>
          <a:xfrm>
            <a:off x="13631324" y="2859900"/>
            <a:ext cx="3344214" cy="1270001"/>
          </a:xfrm>
          <a:prstGeom prst="rect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SPDX 3 JSON</a:t>
            </a:r>
          </a:p>
        </p:txBody>
      </p:sp>
      <p:cxnSp>
        <p:nvCxnSpPr>
          <p:cNvPr id="190" name="Connection Line"/>
          <p:cNvCxnSpPr>
            <a:stCxn id="172" idx="0"/>
            <a:endCxn id="189" idx="0"/>
          </p:cNvCxnSpPr>
          <p:nvPr/>
        </p:nvCxnSpPr>
        <p:spPr>
          <a:xfrm flipV="1">
            <a:off x="9451708" y="3494900"/>
            <a:ext cx="5851724" cy="320824"/>
          </a:xfrm>
          <a:prstGeom prst="straightConnector1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</p:cxnSp>
      <p:sp>
        <p:nvSpPr>
          <p:cNvPr id="191" name="Conformance Checker"/>
          <p:cNvSpPr/>
          <p:nvPr/>
        </p:nvSpPr>
        <p:spPr>
          <a:xfrm>
            <a:off x="18301554" y="2859900"/>
            <a:ext cx="4821206" cy="1270001"/>
          </a:xfrm>
          <a:prstGeom prst="rect">
            <a:avLst/>
          </a:prstGeom>
          <a:solidFill>
            <a:srgbClr val="ED220D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Conformance Checker</a:t>
            </a:r>
          </a:p>
        </p:txBody>
      </p:sp>
      <p:cxnSp>
        <p:nvCxnSpPr>
          <p:cNvPr id="192" name="Connection Line"/>
          <p:cNvCxnSpPr>
            <a:stCxn id="189" idx="0"/>
            <a:endCxn id="191" idx="0"/>
          </p:cNvCxnSpPr>
          <p:nvPr/>
        </p:nvCxnSpPr>
        <p:spPr>
          <a:xfrm>
            <a:off x="15303431" y="3494900"/>
            <a:ext cx="5408726" cy="1"/>
          </a:xfrm>
          <a:prstGeom prst="straightConnector1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</p:cxnSp>
      <p:sp>
        <p:nvSpPr>
          <p:cNvPr id="197" name="Connection Line"/>
          <p:cNvSpPr/>
          <p:nvPr/>
        </p:nvSpPr>
        <p:spPr>
          <a:xfrm>
            <a:off x="20499155" y="4129898"/>
            <a:ext cx="243587" cy="613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8803" y="13290"/>
                  <a:pt x="16003" y="6090"/>
                  <a:pt x="21600" y="0"/>
                </a:cubicBezTo>
              </a:path>
            </a:pathLst>
          </a:custGeom>
          <a:ln w="635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194" name="Extract info from source, AI model metadata, dataset metadata, repos…"/>
          <p:cNvSpPr txBox="1"/>
          <p:nvPr/>
        </p:nvSpPr>
        <p:spPr>
          <a:xfrm>
            <a:off x="6964427" y="5515411"/>
            <a:ext cx="6576442" cy="7362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09599" indent="-609599">
              <a:buSzPct val="123000"/>
              <a:buChar char="•"/>
              <a:defRPr sz="4000"/>
            </a:pPr>
            <a:r>
              <a:t>Extract info from source, AI model metadata, dataset metadata, repos</a:t>
            </a:r>
          </a:p>
          <a:p>
            <a:pPr marL="609599" indent="-609599">
              <a:buSzPct val="123000"/>
              <a:buChar char="•"/>
              <a:defRPr sz="4000"/>
            </a:pPr>
            <a:r>
              <a:t>Records provenance of information</a:t>
            </a:r>
          </a:p>
          <a:p>
            <a:pPr marL="609599" indent="-609599">
              <a:buSzPct val="123000"/>
              <a:buChar char="•"/>
              <a:defRPr sz="4000"/>
            </a:pPr>
            <a:r>
              <a:t>Output in standard JSON-LD format and Python PEP 770</a:t>
            </a:r>
          </a:p>
          <a:p>
            <a:pPr marL="609599" indent="-609599">
              <a:buSzPct val="123000"/>
              <a:buChar char="•"/>
              <a:defRPr sz="4000"/>
            </a:pPr>
            <a:r>
              <a:t>Ready for SBOM Minimum Elements check</a:t>
            </a:r>
          </a:p>
        </p:txBody>
      </p:sp>
      <p:sp>
        <p:nvSpPr>
          <p:cNvPr id="195" name="https://github.com/bact/pitloom"/>
          <p:cNvSpPr txBox="1"/>
          <p:nvPr/>
        </p:nvSpPr>
        <p:spPr>
          <a:xfrm>
            <a:off x="18073650" y="13152106"/>
            <a:ext cx="5476469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800" u="sng">
                <a:hlinkClick r:id="rId2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2" invalidUrl="" action="" tgtFrame="" tooltip="" history="1" highlightClick="0" endSnd="0"/>
              </a:rPr>
              <a:t>https://github.com/bact/pitloom</a:t>
            </a:r>
          </a:p>
        </p:txBody>
      </p:sp>
      <p:sp>
        <p:nvSpPr>
          <p:cNvPr id="196" name="minimum elements"/>
          <p:cNvSpPr txBox="1"/>
          <p:nvPr/>
        </p:nvSpPr>
        <p:spPr>
          <a:xfrm>
            <a:off x="20775206" y="4228058"/>
            <a:ext cx="2689861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minimum elements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itloom SBOM generator"/>
          <p:cNvSpPr/>
          <p:nvPr/>
        </p:nvSpPr>
        <p:spPr>
          <a:xfrm>
            <a:off x="7873242" y="3392513"/>
            <a:ext cx="3122484" cy="1987847"/>
          </a:xfrm>
          <a:prstGeom prst="rect">
            <a:avLst/>
          </a:prstGeom>
          <a:solidFill>
            <a:schemeClr val="accent6">
              <a:satOff val="-20754"/>
              <a:lumOff val="-16738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Pitloom</a:t>
            </a:r>
            <a:br/>
            <a:r>
              <a:t>SBOM generator</a:t>
            </a:r>
          </a:p>
        </p:txBody>
      </p:sp>
      <p:sp>
        <p:nvSpPr>
          <p:cNvPr id="200" name="AI models"/>
          <p:cNvSpPr/>
          <p:nvPr/>
        </p:nvSpPr>
        <p:spPr>
          <a:xfrm>
            <a:off x="421103" y="8128271"/>
            <a:ext cx="2297920" cy="1270001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AI models</a:t>
            </a:r>
          </a:p>
        </p:txBody>
      </p:sp>
      <p:sp>
        <p:nvSpPr>
          <p:cNvPr id="201" name="Project description"/>
          <p:cNvSpPr/>
          <p:nvPr/>
        </p:nvSpPr>
        <p:spPr>
          <a:xfrm>
            <a:off x="396033" y="6446615"/>
            <a:ext cx="2773795" cy="1270001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Project description</a:t>
            </a:r>
          </a:p>
        </p:txBody>
      </p:sp>
      <p:sp>
        <p:nvSpPr>
          <p:cNvPr id="202" name="Dataset"/>
          <p:cNvSpPr/>
          <p:nvPr/>
        </p:nvSpPr>
        <p:spPr>
          <a:xfrm>
            <a:off x="2801439" y="7851543"/>
            <a:ext cx="1845409" cy="1270001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Dataset</a:t>
            </a:r>
          </a:p>
        </p:txBody>
      </p:sp>
      <p:sp>
        <p:nvSpPr>
          <p:cNvPr id="203" name="Rectangle"/>
          <p:cNvSpPr/>
          <p:nvPr/>
        </p:nvSpPr>
        <p:spPr>
          <a:xfrm>
            <a:off x="204452" y="6255035"/>
            <a:ext cx="4532698" cy="3346362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cxnSp>
        <p:nvCxnSpPr>
          <p:cNvPr id="204" name="Connection Line"/>
          <p:cNvCxnSpPr>
            <a:stCxn id="203" idx="0"/>
            <a:endCxn id="199" idx="0"/>
          </p:cNvCxnSpPr>
          <p:nvPr/>
        </p:nvCxnSpPr>
        <p:spPr>
          <a:xfrm flipV="1">
            <a:off x="2470801" y="4386436"/>
            <a:ext cx="6963684" cy="3541780"/>
          </a:xfrm>
          <a:prstGeom prst="straightConnector1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</p:cxnSp>
      <p:sp>
        <p:nvSpPr>
          <p:cNvPr id="205" name="Metadata extraction"/>
          <p:cNvSpPr txBox="1"/>
          <p:nvPr/>
        </p:nvSpPr>
        <p:spPr>
          <a:xfrm>
            <a:off x="3545133" y="6099674"/>
            <a:ext cx="2021253" cy="1024180"/>
          </a:xfrm>
          <a:prstGeom prst="rect">
            <a:avLst/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3000"/>
            </a:pPr>
            <a:r>
              <a:t>Metadata</a:t>
            </a:r>
            <a:br/>
            <a:r>
              <a:t>extraction</a:t>
            </a:r>
          </a:p>
        </p:txBody>
      </p:sp>
      <p:sp>
        <p:nvSpPr>
          <p:cNvPr id="206" name="Model repository"/>
          <p:cNvSpPr/>
          <p:nvPr/>
        </p:nvSpPr>
        <p:spPr>
          <a:xfrm>
            <a:off x="1988678" y="11652568"/>
            <a:ext cx="2773795" cy="1270001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Model repository</a:t>
            </a:r>
          </a:p>
        </p:txBody>
      </p:sp>
      <p:sp>
        <p:nvSpPr>
          <p:cNvPr id="207" name="Software repository"/>
          <p:cNvSpPr/>
          <p:nvPr/>
        </p:nvSpPr>
        <p:spPr>
          <a:xfrm>
            <a:off x="1426995" y="10225634"/>
            <a:ext cx="2773795" cy="1270001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Software repository</a:t>
            </a:r>
          </a:p>
        </p:txBody>
      </p:sp>
      <p:sp>
        <p:nvSpPr>
          <p:cNvPr id="208" name="Rectangle"/>
          <p:cNvSpPr/>
          <p:nvPr/>
        </p:nvSpPr>
        <p:spPr>
          <a:xfrm>
            <a:off x="1243640" y="10060716"/>
            <a:ext cx="3658610" cy="3022765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cxnSp>
        <p:nvCxnSpPr>
          <p:cNvPr id="209" name="Connection Line"/>
          <p:cNvCxnSpPr>
            <a:stCxn id="210" idx="0"/>
            <a:endCxn id="199" idx="0"/>
          </p:cNvCxnSpPr>
          <p:nvPr/>
        </p:nvCxnSpPr>
        <p:spPr>
          <a:xfrm flipV="1">
            <a:off x="4904774" y="4386436"/>
            <a:ext cx="4529711" cy="5767880"/>
          </a:xfrm>
          <a:prstGeom prst="straightConnector1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</p:cxnSp>
      <p:sp>
        <p:nvSpPr>
          <p:cNvPr id="210" name="API"/>
          <p:cNvSpPr txBox="1"/>
          <p:nvPr/>
        </p:nvSpPr>
        <p:spPr>
          <a:xfrm>
            <a:off x="4332024" y="9848499"/>
            <a:ext cx="1145501" cy="611633"/>
          </a:xfrm>
          <a:prstGeom prst="rect">
            <a:avLst/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000"/>
            </a:lvl1pPr>
          </a:lstStyle>
          <a:p>
            <a:pPr/>
            <a:r>
              <a:t>API</a:t>
            </a:r>
          </a:p>
        </p:txBody>
      </p:sp>
      <p:sp>
        <p:nvSpPr>
          <p:cNvPr id="211" name="Source code"/>
          <p:cNvSpPr/>
          <p:nvPr/>
        </p:nvSpPr>
        <p:spPr>
          <a:xfrm>
            <a:off x="891225" y="3104436"/>
            <a:ext cx="2773795" cy="1270001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Source code</a:t>
            </a:r>
          </a:p>
        </p:txBody>
      </p:sp>
      <p:sp>
        <p:nvSpPr>
          <p:cNvPr id="212" name="Software artefacts"/>
          <p:cNvSpPr/>
          <p:nvPr/>
        </p:nvSpPr>
        <p:spPr>
          <a:xfrm>
            <a:off x="1256635" y="4485226"/>
            <a:ext cx="2773795" cy="1270001"/>
          </a:xfrm>
          <a:prstGeom prst="rect">
            <a:avLst/>
          </a:prstGeom>
          <a:solidFill>
            <a:srgbClr val="5E5E5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Software artefacts</a:t>
            </a:r>
          </a:p>
        </p:txBody>
      </p:sp>
      <p:sp>
        <p:nvSpPr>
          <p:cNvPr id="213" name="Rectangle"/>
          <p:cNvSpPr/>
          <p:nvPr/>
        </p:nvSpPr>
        <p:spPr>
          <a:xfrm>
            <a:off x="661325" y="2891650"/>
            <a:ext cx="3529725" cy="2989573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cxnSp>
        <p:nvCxnSpPr>
          <p:cNvPr id="214" name="Connection Line"/>
          <p:cNvCxnSpPr>
            <a:stCxn id="213" idx="0"/>
            <a:endCxn id="199" idx="0"/>
          </p:cNvCxnSpPr>
          <p:nvPr/>
        </p:nvCxnSpPr>
        <p:spPr>
          <a:xfrm flipV="1">
            <a:off x="2426187" y="4386436"/>
            <a:ext cx="7008298" cy="1"/>
          </a:xfrm>
          <a:prstGeom prst="straightConnector1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</p:cxnSp>
      <p:sp>
        <p:nvSpPr>
          <p:cNvPr id="215" name="SPDX tag/text extraction"/>
          <p:cNvSpPr txBox="1"/>
          <p:nvPr/>
        </p:nvSpPr>
        <p:spPr>
          <a:xfrm>
            <a:off x="3873036" y="3229712"/>
            <a:ext cx="2631406" cy="1024180"/>
          </a:xfrm>
          <a:prstGeom prst="rect">
            <a:avLst/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3000"/>
            </a:lvl1pPr>
          </a:lstStyle>
          <a:p>
            <a:pPr/>
            <a:r>
              <a:t>SPDX tag/text extraction</a:t>
            </a:r>
          </a:p>
        </p:txBody>
      </p:sp>
      <p:sp>
        <p:nvSpPr>
          <p:cNvPr id="216" name="SPDX 3 JSON"/>
          <p:cNvSpPr/>
          <p:nvPr/>
        </p:nvSpPr>
        <p:spPr>
          <a:xfrm>
            <a:off x="7873242" y="7293216"/>
            <a:ext cx="3122484" cy="1270001"/>
          </a:xfrm>
          <a:prstGeom prst="rect">
            <a:avLst/>
          </a:prstGeom>
          <a:solidFill>
            <a:schemeClr val="accent3">
              <a:hueOff val="362282"/>
              <a:satOff val="31803"/>
              <a:lumOff val="-182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SPDX 3 JSON</a:t>
            </a:r>
          </a:p>
        </p:txBody>
      </p:sp>
      <p:cxnSp>
        <p:nvCxnSpPr>
          <p:cNvPr id="217" name="Connection Line"/>
          <p:cNvCxnSpPr>
            <a:stCxn id="199" idx="0"/>
            <a:endCxn id="216" idx="0"/>
          </p:cNvCxnSpPr>
          <p:nvPr/>
        </p:nvCxnSpPr>
        <p:spPr>
          <a:xfrm>
            <a:off x="9434484" y="4386436"/>
            <a:ext cx="1" cy="3541781"/>
          </a:xfrm>
          <a:prstGeom prst="straightConnector1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</p:cxnSp>
      <p:sp>
        <p:nvSpPr>
          <p:cNvPr id="218" name="Conformance Checker"/>
          <p:cNvSpPr/>
          <p:nvPr/>
        </p:nvSpPr>
        <p:spPr>
          <a:xfrm>
            <a:off x="7873242" y="10632129"/>
            <a:ext cx="3122484" cy="1270001"/>
          </a:xfrm>
          <a:prstGeom prst="rect">
            <a:avLst/>
          </a:prstGeom>
          <a:solidFill>
            <a:srgbClr val="ED220D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Conformance Checker</a:t>
            </a:r>
          </a:p>
        </p:txBody>
      </p:sp>
      <p:cxnSp>
        <p:nvCxnSpPr>
          <p:cNvPr id="219" name="Connection Line"/>
          <p:cNvCxnSpPr>
            <a:stCxn id="216" idx="0"/>
            <a:endCxn id="218" idx="0"/>
          </p:cNvCxnSpPr>
          <p:nvPr/>
        </p:nvCxnSpPr>
        <p:spPr>
          <a:xfrm>
            <a:off x="9434484" y="7928216"/>
            <a:ext cx="1" cy="3338914"/>
          </a:xfrm>
          <a:prstGeom prst="straightConnector1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</p:cxnSp>
      <p:sp>
        <p:nvSpPr>
          <p:cNvPr id="220" name="https://github.com/bact/pitloom"/>
          <p:cNvSpPr txBox="1"/>
          <p:nvPr/>
        </p:nvSpPr>
        <p:spPr>
          <a:xfrm>
            <a:off x="18073650" y="13152106"/>
            <a:ext cx="5476469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800" u="sng">
                <a:hlinkClick r:id="rId2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2" invalidUrl="" action="" tgtFrame="" tooltip="" history="1" highlightClick="0" endSnd="0"/>
              </a:rPr>
              <a:t>https://github.com/bact/pitloom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